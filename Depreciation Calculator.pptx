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4"/>
  </p:sldMasterIdLst>
  <p:notesMasterIdLst>
    <p:notesMasterId r:id="rId25"/>
  </p:notesMasterIdLst>
  <p:handoutMasterIdLst>
    <p:handoutMasterId r:id="rId26"/>
  </p:handoutMasterIdLst>
  <p:sldIdLst>
    <p:sldId id="258" r:id="rId5"/>
    <p:sldId id="262" r:id="rId6"/>
    <p:sldId id="263" r:id="rId7"/>
    <p:sldId id="264" r:id="rId8"/>
    <p:sldId id="293" r:id="rId9"/>
    <p:sldId id="294" r:id="rId10"/>
    <p:sldId id="295" r:id="rId11"/>
    <p:sldId id="297" r:id="rId12"/>
    <p:sldId id="298" r:id="rId13"/>
    <p:sldId id="299" r:id="rId14"/>
    <p:sldId id="300" r:id="rId15"/>
    <p:sldId id="301" r:id="rId16"/>
    <p:sldId id="302" r:id="rId17"/>
    <p:sldId id="305" r:id="rId18"/>
    <p:sldId id="306" r:id="rId19"/>
    <p:sldId id="307" r:id="rId20"/>
    <p:sldId id="308" r:id="rId21"/>
    <p:sldId id="309" r:id="rId22"/>
    <p:sldId id="310" r:id="rId23"/>
    <p:sldId id="29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9" autoAdjust="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2779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5643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8266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EFB0D-6DB6-450D-981E-DB5B064ABC8F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C8650-8C82-4FB0-9266-0148B376A8CE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E01-3159-42E8-9946-B3F7564EBC72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ECCD-A9BB-4C40-8999-9FDE0B2AF02D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1315-80A2-4A6F-99BC-2337EDBA509A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CEE-D38D-4315-8661-B8B16CE6B114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7022-84E8-42F0-8AEA-ADED76AFD446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67F3-A942-43B7-9681-6435F4941075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76BB9-001A-4B59-8C51-603E71AE3226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10F8E8D-DF54-49BE-BDBC-401B280C4E3C}" type="datetime1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bibliotecaepb.blogspot.com/2020/12/encontro-virtual-con-diego-arboleda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en-IN" dirty="0"/>
              <a:t>Depreciation Calculator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FB5E3C-FE17-44EA-B59B-183125D08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Comparison of Straight-Line and Diminishing Balance Methods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E28AFA0-C551-B08B-93B2-AEDB67197BA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6620" b="16620"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452DF9-AC7C-D9E9-3219-F6C88B4822B6}"/>
              </a:ext>
            </a:extLst>
          </p:cNvPr>
          <p:cNvSpPr txBox="1"/>
          <p:nvPr/>
        </p:nvSpPr>
        <p:spPr>
          <a:xfrm>
            <a:off x="10105535" y="6218061"/>
            <a:ext cx="2017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Jayesh Malviya</a:t>
            </a:r>
          </a:p>
          <a:p>
            <a:pPr algn="r"/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Batch – CX_138</a:t>
            </a:r>
          </a:p>
        </p:txBody>
      </p:sp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46B020-2B12-4533-AB98-A078339B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800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  <a:endParaRPr lang="en-US" sz="4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" name="Picture Placeholder 9" descr="A view of a tall building">
            <a:extLst>
              <a:ext uri="{FF2B5EF4-FFF2-40B4-BE49-F238E27FC236}">
                <a16:creationId xmlns:a16="http://schemas.microsoft.com/office/drawing/2014/main" id="{7E7516D5-86C5-48B5-8E66-B9E6F735DF5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02" r="9892"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24F339C3-B8CC-024F-4815-39B292F3D6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72074" y="2242772"/>
            <a:ext cx="633166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Depreciation </a:t>
            </a:r>
            <a:r>
              <a:rPr lang="en-US" altLang="en-US" sz="2000" dirty="0">
                <a:solidFill>
                  <a:schemeClr val="tx1"/>
                </a:solidFill>
              </a:rPr>
              <a:t>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systematic reduction of asset value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Important for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financial reporting, asset valuation, and tax deduction.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Aim: Compare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Straight-</a:t>
            </a:r>
            <a:r>
              <a:rPr lang="en-US" altLang="en-US" sz="2000" b="1" dirty="0">
                <a:solidFill>
                  <a:schemeClr val="tx1"/>
                </a:solidFill>
              </a:rPr>
              <a:t>Line Method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Diminishing Balance Method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Excel &amp; answer given problem sets.</a:t>
            </a:r>
          </a:p>
        </p:txBody>
      </p:sp>
    </p:spTree>
    <p:extLst>
      <p:ext uri="{BB962C8B-B14F-4D97-AF65-F5344CB8AC3E}">
        <p14:creationId xmlns:p14="http://schemas.microsoft.com/office/powerpoint/2010/main" val="180767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46B020-2B12-4533-AB98-A078339B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25" y="493969"/>
            <a:ext cx="3100136" cy="19602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800" dirty="0">
                <a:solidFill>
                  <a:schemeClr val="accent2">
                    <a:lumMod val="75000"/>
                  </a:schemeClr>
                </a:solidFill>
              </a:rPr>
              <a:t>Objectives</a:t>
            </a:r>
            <a:endParaRPr lang="en-US" sz="48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Placeholder 8" descr="A picture containing object that represents mission, goal&#10;">
            <a:extLst>
              <a:ext uri="{FF2B5EF4-FFF2-40B4-BE49-F238E27FC236}">
                <a16:creationId xmlns:a16="http://schemas.microsoft.com/office/drawing/2014/main" id="{8CFBDF6E-78AD-4FBA-9B07-1F98608A8B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701" r="2" b="2295"/>
          <a:stretch/>
        </p:blipFill>
        <p:spPr>
          <a:xfrm>
            <a:off x="6449963" y="-30693"/>
            <a:ext cx="8217347" cy="69476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8F5F2-DCB3-23CF-636D-F12D147DD0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125" y="2892317"/>
            <a:ext cx="545403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Calculate depreciation using Straight-Line &amp; Diminishing Balance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Prepare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10-year schedules.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Solve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Basic / Intermediate / Advanced questions.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Compare both methods with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graphs &amp; insights.</a:t>
            </a:r>
          </a:p>
        </p:txBody>
      </p:sp>
    </p:spTree>
    <p:extLst>
      <p:ext uri="{BB962C8B-B14F-4D97-AF65-F5344CB8AC3E}">
        <p14:creationId xmlns:p14="http://schemas.microsoft.com/office/powerpoint/2010/main" val="893224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6DB04AA-2B2C-4162-AD6D-1FF80268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152" y="286604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800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  <a:endParaRPr lang="en-US" sz="4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" name="Picture Placeholder 10" descr="A picture containing sky, water, outdoor, person. It also reflects philosophy, peace&#10;&#10;">
            <a:extLst>
              <a:ext uri="{FF2B5EF4-FFF2-40B4-BE49-F238E27FC236}">
                <a16:creationId xmlns:a16="http://schemas.microsoft.com/office/drawing/2014/main" id="{94B2FFE9-6D1F-4DC1-8532-95405973AB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4011541" cy="685799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BFD32-40C0-B259-264C-ED048C37E5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6026" y="2005111"/>
            <a:ext cx="757506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Inputs: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Asset Cost, Additional Costs, Asset Price, Scrap Value, Life Span, Rate of Depreciation (WDV), and Balance Amount.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Formulas Used: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Asset Price = Asset Cost + Additional Costs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Annual Dep (SLM) = (Asset Price – Scrap Value) ÷ Life Span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Dep (SLM) = Annual Dep × Life Span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 (DBM) = Opening Book Value × Rate of Depreciation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Conceptual Basis: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SLM: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Spreads cost evenly, assuming constant utility over life.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Diminishing Balance Method</a:t>
            </a:r>
            <a:r>
              <a:rPr lang="en-US" altLang="en-US" sz="1800" dirty="0">
                <a:solidFill>
                  <a:schemeClr val="tx1"/>
                </a:solidFill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Applies higher depreciation in early years, reflecting faster value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Validation: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both methods, Total Dep ≈ Asset Price – Scrap Value; Closing Book Value = Scrap Value.</a:t>
            </a:r>
          </a:p>
        </p:txBody>
      </p:sp>
    </p:spTree>
    <p:extLst>
      <p:ext uri="{BB962C8B-B14F-4D97-AF65-F5344CB8AC3E}">
        <p14:creationId xmlns:p14="http://schemas.microsoft.com/office/powerpoint/2010/main" val="259689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BBC3-3454-09BA-D044-A1EA5B70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6771"/>
            <a:ext cx="10058400" cy="1450757"/>
          </a:xfrm>
        </p:spPr>
        <p:txBody>
          <a:bodyPr/>
          <a:lstStyle/>
          <a:p>
            <a:r>
              <a:rPr lang="en-IN" dirty="0"/>
              <a:t>Basic Problem Statements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31B760-1468-C4F1-3BD2-DE0702AF16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958188"/>
            <a:ext cx="10591994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Straight Line Method (SLM):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Q1. Calculate the Asset Price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Formula: Asset Price = Asset Cost + Additional Costs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Answer: </a:t>
            </a:r>
            <a:r>
              <a:rPr lang="en-IN" b="1" dirty="0"/>
              <a:t>$5,00,000.00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Q2. What is the depreciation as per straight-line method?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Formula: (Asset Price – Scrap Value) ÷ Life Span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Excel: =SLN(AssetPrice, Scrap, Life)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Answer: </a:t>
            </a:r>
            <a:r>
              <a:rPr lang="en-IN" b="1" dirty="0"/>
              <a:t>$45,000.00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Q3. What is the depreciation percentage for the straight-line method?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Formula: (Annual Depreciation ÷ Asset Price) × 100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Answer: </a:t>
            </a:r>
            <a:r>
              <a:rPr lang="en-IN" b="1" dirty="0"/>
              <a:t>9.00%</a:t>
            </a:r>
            <a:r>
              <a:rPr lang="en-IN" dirty="0"/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8703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6808-7D6C-60B2-748F-ED9F17768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1EE7-DAD7-84E4-DB41-856FE34D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6771"/>
            <a:ext cx="10058400" cy="1450757"/>
          </a:xfrm>
        </p:spPr>
        <p:txBody>
          <a:bodyPr/>
          <a:lstStyle/>
          <a:p>
            <a:r>
              <a:rPr lang="en-IN" dirty="0"/>
              <a:t>Basic Problem Statements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94C87E-463B-E84A-5502-5DB9D61587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991516"/>
            <a:ext cx="10250129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Q4. What is the total depreciation for its life span?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Formula: Annual Depreciation × Life Span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Should equal Asset Price – Scrap Value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Answer: </a:t>
            </a:r>
            <a:r>
              <a:rPr lang="en-IN" sz="2000" b="1" dirty="0"/>
              <a:t>$4,50,000.00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Q5. Find the depreciated book value after its life span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Formula: Asset Price – Total Depreciation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Should equal Scrap Value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Answer: </a:t>
            </a:r>
            <a:r>
              <a:rPr lang="en-IN" sz="2000" b="1" dirty="0"/>
              <a:t>$50,000.00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Q6. What is the Balance amount?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Balance Amount = Book Value after Life Span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Answer: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20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60697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56AE-3102-DC64-7D40-30FB3020C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F94B-1EE1-5477-FBAD-510B5DE2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6771"/>
            <a:ext cx="10058400" cy="1450757"/>
          </a:xfrm>
        </p:spPr>
        <p:txBody>
          <a:bodyPr/>
          <a:lstStyle/>
          <a:p>
            <a:r>
              <a:rPr lang="en-IN" dirty="0"/>
              <a:t>Basic Problem Statements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821F7EA-8C49-9085-DAF2-B5F8D72A93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960374"/>
            <a:ext cx="1042711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Diminishing Balance Method (WDV):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Q1. Calculate the Asset Price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Formula: Asset Price = Asset Cost + Additional Costs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Answer: </a:t>
            </a:r>
            <a:r>
              <a:rPr lang="en-IN" sz="2000" b="1" dirty="0"/>
              <a:t>$5,00,000.00 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Q2. Find the rate of depreciation as per diminishing balance method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Excel Formula: </a:t>
            </a:r>
            <a:r>
              <a:rPr lang="en-US" altLang="en-US" sz="2000" dirty="0">
                <a:solidFill>
                  <a:schemeClr val="tx1"/>
                </a:solidFill>
              </a:rPr>
              <a:t>=IF(D20="","",1-(D21/D20)^(1/D22))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Answer: </a:t>
            </a:r>
            <a:r>
              <a:rPr lang="en-IN" sz="2000" b="1" dirty="0"/>
              <a:t>20.57%</a:t>
            </a:r>
            <a:r>
              <a:rPr lang="en-IN" sz="2000" dirty="0"/>
              <a:t> </a:t>
            </a:r>
          </a:p>
          <a:p>
            <a:pPr marL="11734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66744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55C6-A0A4-E26E-650D-DE40DA453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9051F-FE73-46A2-0943-396694AE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6771"/>
            <a:ext cx="10058400" cy="1450757"/>
          </a:xfrm>
        </p:spPr>
        <p:txBody>
          <a:bodyPr/>
          <a:lstStyle/>
          <a:p>
            <a:r>
              <a:rPr lang="en-IN" dirty="0"/>
              <a:t>Intermediate Problem Statements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DC13FDD-25DA-2EC3-CF03-E05CC8F9D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864153"/>
            <a:ext cx="9046961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Q1. Book Value for Year 1 &amp; Depreciation for Year 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Answer: Book Value (Y1) = </a:t>
            </a:r>
            <a:r>
              <a:rPr lang="en-IN" sz="1700" b="1" dirty="0"/>
              <a:t>$5,00,000.00 </a:t>
            </a:r>
            <a:r>
              <a:rPr lang="en-IN" sz="1700" dirty="0"/>
              <a:t>&amp;</a:t>
            </a:r>
            <a:r>
              <a:rPr lang="en-IN" sz="1700" b="1" dirty="0"/>
              <a:t> </a:t>
            </a:r>
            <a:r>
              <a:rPr lang="en-IN" sz="1700" dirty="0"/>
              <a:t>Depreciation (Y1)</a:t>
            </a:r>
            <a:r>
              <a:rPr lang="en-IN" sz="1700" b="1" dirty="0"/>
              <a:t> = $1,02,835.88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 dirty="0"/>
              <a:t>Q2. Book Value for Year 2 &amp; Depreciation for Year 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/>
              <a:t>Answer: Book Value (Y2) = </a:t>
            </a:r>
            <a:r>
              <a:rPr lang="en-IN" sz="1700" b="1" dirty="0"/>
              <a:t>$3,97,164.12 </a:t>
            </a:r>
            <a:r>
              <a:rPr lang="en-IN" sz="1700" dirty="0"/>
              <a:t>&amp;</a:t>
            </a:r>
            <a:r>
              <a:rPr lang="en-IN" sz="1700" b="1" dirty="0"/>
              <a:t> </a:t>
            </a:r>
            <a:r>
              <a:rPr lang="en-IN" sz="1700" dirty="0"/>
              <a:t>Depreciation (Y2)</a:t>
            </a:r>
            <a:r>
              <a:rPr lang="en-IN" sz="1700" b="1" dirty="0"/>
              <a:t> = $81,685.45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altLang="en-US" sz="17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700" b="1" dirty="0"/>
              <a:t>Q3. Book Value for Year 3 &amp; Depreciation for Year 3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/>
              <a:t>Answer: Book Value (Y3) = </a:t>
            </a:r>
            <a:r>
              <a:rPr lang="en-IN" sz="1700" b="1" dirty="0"/>
              <a:t>$3,15,478.67  </a:t>
            </a:r>
            <a:r>
              <a:rPr lang="en-IN" sz="1700" dirty="0"/>
              <a:t>&amp;</a:t>
            </a:r>
            <a:r>
              <a:rPr lang="en-IN" sz="1700" b="1" dirty="0"/>
              <a:t> </a:t>
            </a:r>
            <a:r>
              <a:rPr lang="en-IN" sz="1700" dirty="0"/>
              <a:t>Depreciation (Y3)</a:t>
            </a:r>
            <a:r>
              <a:rPr lang="en-IN" sz="1700" b="1" dirty="0"/>
              <a:t> = $64,885.06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17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700" b="1" dirty="0"/>
              <a:t>Q4. Extend to 10 years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96BFDB-4E43-AF5D-CD03-724D5FFAB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95" y="4709210"/>
            <a:ext cx="4815805" cy="187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74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DB36F-A02E-30AD-88CE-C9EA1B72F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9538B-EC1A-74A8-748F-1B162748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597"/>
            <a:ext cx="10058400" cy="1450757"/>
          </a:xfrm>
        </p:spPr>
        <p:txBody>
          <a:bodyPr/>
          <a:lstStyle/>
          <a:p>
            <a:r>
              <a:rPr lang="en-IN" dirty="0"/>
              <a:t>Advanced Problem Statements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7B5454-F460-5B36-E9EB-F16A1F2F05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965103"/>
            <a:ext cx="10230465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Q1) Annual depreciation (Straight-Line)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Answer = </a:t>
            </a:r>
            <a:r>
              <a:rPr lang="en-IN" b="1" dirty="0"/>
              <a:t>$45,000.00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Formula used: =(AssetPrice - Scrap) / Life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/>
              <a:t>Q2) Total depreciation for whole life (Straight-Line)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Answer: = </a:t>
            </a:r>
            <a:r>
              <a:rPr lang="en-IN" b="1" dirty="0"/>
              <a:t>$4,50,000.00 </a:t>
            </a:r>
            <a:br>
              <a:rPr lang="en-US" altLang="en-US" sz="1800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</a:rPr>
              <a:t>Formula used: = (AssetPrice - Scrap)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Q3) Book value after life (Straight-Line)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Answer: = </a:t>
            </a:r>
            <a:r>
              <a:rPr lang="en-IN" b="1" dirty="0"/>
              <a:t>$50,000.00 </a:t>
            </a:r>
            <a:br>
              <a:rPr lang="en-US" altLang="en-US" sz="1800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</a:rPr>
              <a:t>Formula used: = AssetPrice - ((AssetPrice - Scrap) / Life) * Life [It should be equal to scrap value]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Q4) Rate of depreciation per year (Diminishing Balance)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Answer = </a:t>
            </a:r>
            <a:r>
              <a:rPr lang="en-IN" b="1" dirty="0"/>
              <a:t>20.57%</a:t>
            </a:r>
            <a:r>
              <a:rPr lang="en-IN" sz="1800" dirty="0"/>
              <a:t> </a:t>
            </a:r>
            <a:br>
              <a:rPr lang="en-US" altLang="en-US" sz="1800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</a:rPr>
              <a:t>Formula used: = 1 - (Scrap / AssetPrice) ^ (1 / Life)</a:t>
            </a:r>
          </a:p>
        </p:txBody>
      </p:sp>
    </p:spTree>
    <p:extLst>
      <p:ext uri="{BB962C8B-B14F-4D97-AF65-F5344CB8AC3E}">
        <p14:creationId xmlns:p14="http://schemas.microsoft.com/office/powerpoint/2010/main" val="2752787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F5C6-ADB6-B85A-CC47-F843C559A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90DD-D3F9-F7CE-CF93-6D580499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597"/>
            <a:ext cx="10058400" cy="1450757"/>
          </a:xfrm>
        </p:spPr>
        <p:txBody>
          <a:bodyPr/>
          <a:lstStyle/>
          <a:p>
            <a:r>
              <a:rPr lang="en-IN" dirty="0"/>
              <a:t>Advanced Problem Statements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49457F-BF11-6BAE-1CCA-7BB7D318BC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050388"/>
            <a:ext cx="1024345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Q5) Depreciation in Year 2 (Diminishing Balance)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Answer = </a:t>
            </a:r>
            <a:r>
              <a:rPr lang="en-IN" sz="1800" b="1" dirty="0"/>
              <a:t>$81,685.45 </a:t>
            </a:r>
            <a:br>
              <a:rPr lang="en-US" altLang="en-US" sz="1800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</a:rPr>
              <a:t>Formula = [Asset price – Dep (Y1)] * diminishing_rate</a:t>
            </a:r>
            <a:br>
              <a:rPr lang="en-US" altLang="en-US" sz="1800" dirty="0">
                <a:solidFill>
                  <a:schemeClr val="tx1"/>
                </a:solidFill>
              </a:rPr>
            </a:br>
            <a:endParaRPr lang="en-US" altLang="en-US" sz="1800" b="1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Q6) Book value at end of Year 4 (Diminishing Balance)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Answer = </a:t>
            </a:r>
            <a:r>
              <a:rPr lang="en-IN" sz="1800" b="1" dirty="0"/>
              <a:t>$2,50,593.62 </a:t>
            </a:r>
            <a:br>
              <a:rPr lang="en-US" altLang="en-US" sz="1800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</a:rPr>
              <a:t>Formula used: = Book value (Y3) – Depreciation Amount (Y3)</a:t>
            </a:r>
            <a:br>
              <a:rPr lang="en-US" altLang="en-US" sz="1800" dirty="0">
                <a:solidFill>
                  <a:schemeClr val="tx1"/>
                </a:solidFill>
              </a:rPr>
            </a:br>
            <a:endParaRPr lang="en-US" altLang="en-US" sz="1800" b="1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Q7) Total depreciation for whole life (Diminishing Balance)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Answer = </a:t>
            </a:r>
            <a:r>
              <a:rPr lang="en-IN" sz="1800" b="1" dirty="0"/>
              <a:t>$4,37,053.73</a:t>
            </a:r>
            <a:r>
              <a:rPr lang="en-IN" sz="1800" dirty="0"/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Formula used: = Book Value (Y1) – Book Value (Y10)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Q8) Book value after life (Diminishing Balance)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Answer = </a:t>
            </a:r>
            <a:r>
              <a:rPr lang="en-IN" sz="1800" b="1" dirty="0"/>
              <a:t>$50,000.00 </a:t>
            </a:r>
            <a:br>
              <a:rPr lang="en-US" altLang="en-US" sz="1800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</a:rPr>
              <a:t>Formula used = Scrap Value</a:t>
            </a:r>
          </a:p>
        </p:txBody>
      </p:sp>
    </p:spTree>
    <p:extLst>
      <p:ext uri="{BB962C8B-B14F-4D97-AF65-F5344CB8AC3E}">
        <p14:creationId xmlns:p14="http://schemas.microsoft.com/office/powerpoint/2010/main" val="2020199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62298-FF9E-C59B-8865-496F76714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232E-6D03-1797-5C6C-BAAC4B6FB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597"/>
            <a:ext cx="10058400" cy="1450757"/>
          </a:xfrm>
        </p:spPr>
        <p:txBody>
          <a:bodyPr/>
          <a:lstStyle/>
          <a:p>
            <a:r>
              <a:rPr lang="en-IN" dirty="0"/>
              <a:t>Advanced Problem Statements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5851A8-E9B7-97D0-54B5-2129D9DE04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796354"/>
            <a:ext cx="1024345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Q9) Compare total depreciation from Straight Line &amp; diminishing Method. Which is higher?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Answers to show in sheet: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 Total Depreciation (SLM) = </a:t>
            </a:r>
            <a:r>
              <a:rPr lang="en-IN" b="1" dirty="0"/>
              <a:t>$4,50,000.00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 Total Depreciation (DBM) = </a:t>
            </a:r>
            <a:r>
              <a:rPr lang="en-IN" b="1" dirty="0"/>
              <a:t>$4,50,000.00</a:t>
            </a:r>
            <a:endParaRPr lang="en-IN" sz="1800" b="1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altLang="en-US" sz="18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altLang="en-US" sz="1800" dirty="0">
                <a:solidFill>
                  <a:schemeClr val="tx1"/>
                </a:solidFill>
              </a:rPr>
              <a:t> Total Depreciation amount is </a:t>
            </a:r>
            <a:r>
              <a:rPr lang="en-IN" altLang="en-US" sz="1800" b="1" dirty="0">
                <a:solidFill>
                  <a:schemeClr val="tx1"/>
                </a:solidFill>
              </a:rPr>
              <a:t>same</a:t>
            </a:r>
            <a:r>
              <a:rPr lang="en-IN" altLang="en-US" sz="1800" dirty="0">
                <a:solidFill>
                  <a:schemeClr val="tx1"/>
                </a:solidFill>
              </a:rPr>
              <a:t> for both the methods.</a:t>
            </a:r>
            <a:endParaRPr lang="en-US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14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3A3D-4A6F-663A-FC6A-961F66CBA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8F36-6E5C-6C4E-5472-F6A27E1A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597"/>
            <a:ext cx="10058400" cy="1450757"/>
          </a:xfrm>
        </p:spPr>
        <p:txBody>
          <a:bodyPr/>
          <a:lstStyle/>
          <a:p>
            <a:r>
              <a:rPr lang="en-IN" dirty="0"/>
              <a:t>Comparison &amp;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33193-3116-C5F2-F877-7FA22F140882}"/>
              </a:ext>
            </a:extLst>
          </p:cNvPr>
          <p:cNvSpPr txBox="1"/>
          <p:nvPr/>
        </p:nvSpPr>
        <p:spPr>
          <a:xfrm>
            <a:off x="1066800" y="1979337"/>
            <a:ext cx="3820886" cy="37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Straight-line Method</a:t>
            </a:r>
            <a:endParaRPr lang="en-IN" b="1" u="sn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83B913-5179-9911-1D6C-3B47F994D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639" y="2638573"/>
            <a:ext cx="6210838" cy="286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4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E27E-D5E7-A556-E8B6-D6EF9888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7257-3C16-80F6-9C83-3963F20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597"/>
            <a:ext cx="10058400" cy="1450757"/>
          </a:xfrm>
        </p:spPr>
        <p:txBody>
          <a:bodyPr/>
          <a:lstStyle/>
          <a:p>
            <a:r>
              <a:rPr lang="en-IN" dirty="0"/>
              <a:t>Comparison &amp;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313B6-B6C4-DD0E-D488-0610843A285F}"/>
              </a:ext>
            </a:extLst>
          </p:cNvPr>
          <p:cNvSpPr txBox="1"/>
          <p:nvPr/>
        </p:nvSpPr>
        <p:spPr>
          <a:xfrm>
            <a:off x="1066800" y="1979337"/>
            <a:ext cx="3820886" cy="37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Diminishing Balance Method</a:t>
            </a:r>
            <a:endParaRPr lang="en-IN" b="1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D2AA27-B135-3AE5-7A70-6FF40566F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856" y="2725851"/>
            <a:ext cx="6653505" cy="258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07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AE903-AA98-CDCE-4718-22D9002D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01AAB-2ED9-A805-22B2-6396666E7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597"/>
            <a:ext cx="10058400" cy="1450757"/>
          </a:xfrm>
        </p:spPr>
        <p:txBody>
          <a:bodyPr/>
          <a:lstStyle/>
          <a:p>
            <a:r>
              <a:rPr lang="en-IN" dirty="0"/>
              <a:t>Book/Asset Value vs.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68D6C-4AEE-7142-A874-D0E924B73730}"/>
              </a:ext>
            </a:extLst>
          </p:cNvPr>
          <p:cNvSpPr txBox="1"/>
          <p:nvPr/>
        </p:nvSpPr>
        <p:spPr>
          <a:xfrm>
            <a:off x="1066800" y="1979337"/>
            <a:ext cx="3820886" cy="37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Straight-line Method</a:t>
            </a:r>
            <a:endParaRPr lang="en-IN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57B69-F2C1-D176-8820-0457BC02E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238" y="2532435"/>
            <a:ext cx="7294896" cy="36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04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DCC3F-504A-2B5A-81D1-D1EC2F8C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3DA0-F387-0C38-94F4-AB80A6EF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597"/>
            <a:ext cx="10058400" cy="1450757"/>
          </a:xfrm>
        </p:spPr>
        <p:txBody>
          <a:bodyPr/>
          <a:lstStyle/>
          <a:p>
            <a:r>
              <a:rPr lang="en-IN" dirty="0"/>
              <a:t>Book/Asset Value vs.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65725-83A6-B889-5900-77EA501D50BC}"/>
              </a:ext>
            </a:extLst>
          </p:cNvPr>
          <p:cNvSpPr txBox="1"/>
          <p:nvPr/>
        </p:nvSpPr>
        <p:spPr>
          <a:xfrm>
            <a:off x="1066800" y="1979337"/>
            <a:ext cx="3820886" cy="37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Diminishing Balance Method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1DEDA-FD03-CAE7-98AC-1426360FD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086" y="2532435"/>
            <a:ext cx="7075714" cy="351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55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F1217-AA77-774D-7095-1436342D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E7B2-AE93-E653-57C6-B2E296A5F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597"/>
            <a:ext cx="10058400" cy="1450757"/>
          </a:xfrm>
        </p:spPr>
        <p:txBody>
          <a:bodyPr/>
          <a:lstStyle/>
          <a:p>
            <a:r>
              <a:rPr lang="en-IN" dirty="0"/>
              <a:t>Yearly Depreciation Amount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2CB4CA-89EE-F878-C64C-5F451F1BC910}"/>
              </a:ext>
            </a:extLst>
          </p:cNvPr>
          <p:cNvSpPr txBox="1"/>
          <p:nvPr/>
        </p:nvSpPr>
        <p:spPr>
          <a:xfrm>
            <a:off x="1066800" y="1979337"/>
            <a:ext cx="3820886" cy="37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Straight-line Method</a:t>
            </a:r>
            <a:endParaRPr lang="en-IN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7F09D-7F12-4909-FAA7-F8E7261B9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242" y="2532435"/>
            <a:ext cx="7862030" cy="361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46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183F8-7CF8-4B40-4AA5-F2B0631F3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4B2D-9AEA-6732-E215-B97B6F876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597"/>
            <a:ext cx="10058400" cy="1450757"/>
          </a:xfrm>
        </p:spPr>
        <p:txBody>
          <a:bodyPr/>
          <a:lstStyle/>
          <a:p>
            <a:r>
              <a:rPr lang="en-IN" dirty="0"/>
              <a:t>Yearly Depreciation Amount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537A1-D16A-12B6-0AE8-6C36A8C0B640}"/>
              </a:ext>
            </a:extLst>
          </p:cNvPr>
          <p:cNvSpPr txBox="1"/>
          <p:nvPr/>
        </p:nvSpPr>
        <p:spPr>
          <a:xfrm>
            <a:off x="1066800" y="1979337"/>
            <a:ext cx="3820886" cy="37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Diminishing Balance Method</a:t>
            </a: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E4E9A-FF20-7B3F-1199-476168418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169" y="2532435"/>
            <a:ext cx="7723775" cy="355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4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8C959-6AE3-710B-66F1-91011E9C0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76956-BE0C-1F1B-1C7D-24A0DC8E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597"/>
            <a:ext cx="10058400" cy="1450757"/>
          </a:xfrm>
        </p:spPr>
        <p:txBody>
          <a:bodyPr/>
          <a:lstStyle/>
          <a:p>
            <a:r>
              <a:rPr lang="en-IN" dirty="0"/>
              <a:t>Comparison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CB951-ECFE-FEC6-4A56-15CBAE544D67}"/>
              </a:ext>
            </a:extLst>
          </p:cNvPr>
          <p:cNvSpPr txBox="1"/>
          <p:nvPr/>
        </p:nvSpPr>
        <p:spPr>
          <a:xfrm>
            <a:off x="1066800" y="2193197"/>
            <a:ext cx="1023257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Straight-Line Method (SLM):</a:t>
            </a:r>
            <a:endParaRPr lang="en-US" sz="2000" dirty="0"/>
          </a:p>
          <a:p>
            <a:pPr lvl="1"/>
            <a:r>
              <a:rPr lang="en-US" sz="2000" dirty="0"/>
              <a:t>Depreciation expense remains </a:t>
            </a:r>
            <a:r>
              <a:rPr lang="en-US" sz="2000" b="1" dirty="0"/>
              <a:t>constant every year</a:t>
            </a:r>
            <a:r>
              <a:rPr lang="en-US" sz="2000" dirty="0"/>
              <a:t>, which simplifies planning and reporting.</a:t>
            </a:r>
          </a:p>
          <a:p>
            <a:pPr lvl="1"/>
            <a:r>
              <a:rPr lang="en-US" sz="2000" dirty="0"/>
              <a:t>Ensures </a:t>
            </a:r>
            <a:r>
              <a:rPr lang="en-US" sz="2000" b="1" dirty="0"/>
              <a:t>stability in profit &amp; loss statements</a:t>
            </a:r>
            <a:r>
              <a:rPr lang="en-US" sz="2000" dirty="0"/>
              <a:t>, as expenses are evenly distributed.</a:t>
            </a:r>
          </a:p>
          <a:p>
            <a:pPr lvl="1"/>
            <a:r>
              <a:rPr lang="en-US" sz="2000" dirty="0"/>
              <a:t>Best suited for assets like </a:t>
            </a:r>
            <a:r>
              <a:rPr lang="en-US" sz="2000" b="1" dirty="0"/>
              <a:t>buildings, furniture, or fixtures</a:t>
            </a:r>
            <a:r>
              <a:rPr lang="en-US" sz="2000" dirty="0"/>
              <a:t> that provide a </a:t>
            </a:r>
            <a:r>
              <a:rPr lang="en-US" sz="2000" b="1" dirty="0"/>
              <a:t>uniform level of benefit</a:t>
            </a:r>
            <a:r>
              <a:rPr lang="en-US" sz="2000" dirty="0"/>
              <a:t> over their useful life.</a:t>
            </a:r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Diminishing Balance Method:</a:t>
            </a:r>
            <a:endParaRPr lang="en-US" sz="2000" dirty="0"/>
          </a:p>
          <a:p>
            <a:pPr lvl="1"/>
            <a:r>
              <a:rPr lang="en-US" sz="2000" dirty="0"/>
              <a:t>Depreciation is </a:t>
            </a:r>
            <a:r>
              <a:rPr lang="en-US" sz="2000" b="1" dirty="0"/>
              <a:t>higher in the initial years</a:t>
            </a:r>
            <a:r>
              <a:rPr lang="en-US" sz="2000" dirty="0"/>
              <a:t> and gradually reduces over time.</a:t>
            </a:r>
          </a:p>
          <a:p>
            <a:pPr lvl="1"/>
            <a:r>
              <a:rPr lang="en-US" sz="2000" dirty="0"/>
              <a:t>Mirrors the real-world usage pattern of many assets (e.g., machinery, vehicles, technology) that lose efficiency or value quickly in the beginning.</a:t>
            </a:r>
          </a:p>
          <a:p>
            <a:pPr lvl="1"/>
            <a:r>
              <a:rPr lang="en-US" sz="2000" dirty="0"/>
              <a:t>Provides a </a:t>
            </a:r>
            <a:r>
              <a:rPr lang="en-US" sz="2000" b="1" dirty="0"/>
              <a:t>tax advantage in early years</a:t>
            </a:r>
            <a:r>
              <a:rPr lang="en-US" sz="2000" dirty="0"/>
              <a:t>, since higher depreciation lowers taxable profit initially.</a:t>
            </a:r>
          </a:p>
          <a:p>
            <a:endParaRPr lang="en-IN" sz="2000" b="1" u="sng" dirty="0"/>
          </a:p>
        </p:txBody>
      </p:sp>
    </p:spTree>
    <p:extLst>
      <p:ext uri="{BB962C8B-B14F-4D97-AF65-F5344CB8AC3E}">
        <p14:creationId xmlns:p14="http://schemas.microsoft.com/office/powerpoint/2010/main" val="1577218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3718-953A-C44B-49BF-B4AF4511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FA5EB-B678-3C9F-C0C8-BBCCA96B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597"/>
            <a:ext cx="10058400" cy="1450757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C2001-D0C2-DEA9-56D6-EF65AD24A8FF}"/>
              </a:ext>
            </a:extLst>
          </p:cNvPr>
          <p:cNvSpPr txBox="1"/>
          <p:nvPr/>
        </p:nvSpPr>
        <p:spPr>
          <a:xfrm>
            <a:off x="1066800" y="2084340"/>
            <a:ext cx="101454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Both </a:t>
            </a:r>
            <a:r>
              <a:rPr lang="en-US" sz="2000" b="1" dirty="0"/>
              <a:t>Straight-Line Method (SLM)</a:t>
            </a:r>
            <a:r>
              <a:rPr lang="en-US" sz="2000" dirty="0"/>
              <a:t> and </a:t>
            </a:r>
            <a:r>
              <a:rPr lang="en-US" sz="2000" b="1" dirty="0"/>
              <a:t>Diminishing Balance Method </a:t>
            </a:r>
            <a:r>
              <a:rPr lang="en-US" sz="2000" dirty="0"/>
              <a:t>depreciate the asset by the same total amount (</a:t>
            </a:r>
            <a:r>
              <a:rPr lang="en-US" sz="2000" b="1" dirty="0"/>
              <a:t>Asset Price − Scrap Value</a:t>
            </a:r>
            <a:r>
              <a:rPr lang="en-US" sz="2000" dirty="0"/>
              <a:t>) over its useful life.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The key difference lies in </a:t>
            </a:r>
            <a:r>
              <a:rPr lang="en-US" sz="2000" b="1" dirty="0"/>
              <a:t>timing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SLM</a:t>
            </a:r>
            <a:r>
              <a:rPr lang="en-US" sz="2000" dirty="0"/>
              <a:t> spreads depreciation evenly, ensuring stability in reporting and budgeting.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Diminishing Balance Method</a:t>
            </a:r>
            <a:r>
              <a:rPr lang="en-US" sz="2000" dirty="0"/>
              <a:t> charges more in early years, reflecting faster wear and providing early tax benefits.</a:t>
            </a:r>
          </a:p>
          <a:p>
            <a:pPr lvl="1"/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The </a:t>
            </a:r>
            <a:r>
              <a:rPr lang="en-US" sz="2000" b="1" dirty="0"/>
              <a:t>choice of method</a:t>
            </a:r>
            <a:r>
              <a:rPr lang="en-US" sz="2000" dirty="0"/>
              <a:t> depends on the asset’s nature: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/>
              <a:t>SLM</a:t>
            </a:r>
            <a:r>
              <a:rPr lang="en-US" sz="2000" dirty="0"/>
              <a:t> suits assets with steady utility (e.g., buildings, furniture).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/>
              <a:t>Diminishing Balance Method</a:t>
            </a:r>
            <a:r>
              <a:rPr lang="en-US" sz="2000" dirty="0"/>
              <a:t> fits assets that lose value quickly (e.g., machinery, vehicles, technology).</a:t>
            </a:r>
          </a:p>
        </p:txBody>
      </p:sp>
    </p:spTree>
    <p:extLst>
      <p:ext uri="{BB962C8B-B14F-4D97-AF65-F5344CB8AC3E}">
        <p14:creationId xmlns:p14="http://schemas.microsoft.com/office/powerpoint/2010/main" val="3130713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96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163</TotalTime>
  <Words>1135</Words>
  <Application>Microsoft Office PowerPoint</Application>
  <PresentationFormat>Widescreen</PresentationFormat>
  <Paragraphs>145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Wingdings</vt:lpstr>
      <vt:lpstr>RetrospectVTI</vt:lpstr>
      <vt:lpstr>Depreciation Calculator</vt:lpstr>
      <vt:lpstr>Introduction</vt:lpstr>
      <vt:lpstr>Objectives</vt:lpstr>
      <vt:lpstr>Methodology</vt:lpstr>
      <vt:lpstr>Basic Problem Statements</vt:lpstr>
      <vt:lpstr>Basic Problem Statements</vt:lpstr>
      <vt:lpstr>Basic Problem Statements</vt:lpstr>
      <vt:lpstr>Intermediate Problem Statements</vt:lpstr>
      <vt:lpstr>Advanced Problem Statements</vt:lpstr>
      <vt:lpstr>Advanced Problem Statements</vt:lpstr>
      <vt:lpstr>Advanced Problem Statements</vt:lpstr>
      <vt:lpstr>Comparison &amp; Analysis</vt:lpstr>
      <vt:lpstr>Comparison &amp; Analysis</vt:lpstr>
      <vt:lpstr>Book/Asset Value vs. Year</vt:lpstr>
      <vt:lpstr>Book/Asset Value vs. Year</vt:lpstr>
      <vt:lpstr>Yearly Depreciation Amount</vt:lpstr>
      <vt:lpstr>Yearly Depreciation Amount</vt:lpstr>
      <vt:lpstr>Comparison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Malviya</dc:creator>
  <cp:lastModifiedBy>Jayesh Malviya</cp:lastModifiedBy>
  <cp:revision>17</cp:revision>
  <dcterms:created xsi:type="dcterms:W3CDTF">2025-08-28T19:27:03Z</dcterms:created>
  <dcterms:modified xsi:type="dcterms:W3CDTF">2025-09-03T18:38:19Z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